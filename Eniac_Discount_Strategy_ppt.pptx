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LdCv5XIqOWP86gh8YbTSORStv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B45658-FAA1-4EBE-899B-9735595F141C}">
  <a:tblStyle styleId="{08B45658-FAA1-4EBE-899B-9735595F141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4e99f0d9b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4e99f0d9b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4e99f0d9b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4fcb48ac0_6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4fcb48ac0_6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f4fcb48ac0_6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1ee6a843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51ee6a843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51ee6a843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2285" y="6639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DISCOUNT STRATEGY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00025" y="1194613"/>
            <a:ext cx="111057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Discount Strategy Review: Where to Draw the Line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82285" y="286556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A3"/>
                </a:solidFill>
                <a:latin typeface="Calibri"/>
                <a:ea typeface="Calibri"/>
                <a:cs typeface="Calibri"/>
                <a:sym typeface="Calibri"/>
              </a:rPr>
              <a:t>WHAT WE’LL COVER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53510" y="329428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1. The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25332" y="3258005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2. The core finding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052605" y="3294268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3. Order trends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53510" y="3659973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4. Category 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525320" y="359696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5. Product 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052593" y="3659973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6. Recommendation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75300" y="4567661"/>
            <a:ext cx="3383400" cy="19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Sayali Ware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Paul Priluzki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Ishwarya Goudagaon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Anushree Balakrishnan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11475720" y="3657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The data behind this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looked at every order Eniac </a:t>
            </a:r>
            <a:r>
              <a:rPr b="0" i="0" lang="en-US" sz="1400" u="none" cap="none" strike="noStrike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between January 2017 and March 2018.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920240"/>
            <a:ext cx="3520440" cy="173736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77240" y="208483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40,9</a:t>
            </a:r>
            <a:r>
              <a:rPr b="1" lang="en-US" sz="32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85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2743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US" sz="13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rders( </a:t>
            </a:r>
            <a:r>
              <a:rPr b="1" i="0" lang="en-US" sz="1300" u="none" cap="none" strike="noStrike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Comp</a:t>
            </a:r>
            <a:r>
              <a:rPr b="1" lang="en-US" sz="1300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leted </a:t>
            </a:r>
            <a:r>
              <a:rPr b="1" lang="en-US" sz="130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04495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Jan 2017 – Mar 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343400" y="1920240"/>
            <a:ext cx="3520440" cy="173736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0" y="208483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$</a:t>
            </a:r>
            <a:r>
              <a:rPr b="1" lang="en-US" sz="32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r>
              <a:rPr b="1" i="0" lang="en-US" sz="32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.8M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0" y="2743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3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otal 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0" y="304495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money we collected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38160" y="1920240"/>
            <a:ext cx="3520440" cy="173736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366760" y="208483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$1.52M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366760" y="2743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Total </a:t>
            </a:r>
            <a:r>
              <a:rPr b="1" i="0" lang="en-US" sz="13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discounts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366760" y="304495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 cents of every $1 of gross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4023360"/>
            <a:ext cx="11064240" cy="19202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14400" y="4251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The question we’re answering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14400" y="457200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Should Eniac keep offering discounts? And if so — how big should they be, and on what products?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11475720" y="3657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503920" y="653796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3657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Discount changes often fail to explain sales changes.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 title="anushree_categories_revenue_disc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337" y="997549"/>
            <a:ext cx="9235712" cy="562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0" y="1240200"/>
            <a:ext cx="2383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Georgia"/>
              <a:buChar char="●"/>
            </a:pPr>
            <a:r>
              <a:rPr b="1" lang="en-US" sz="1300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Discounts and sales often diverge.</a:t>
            </a:r>
            <a:endParaRPr b="1" sz="1300">
              <a:solidFill>
                <a:srgbClr val="20242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0242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Georgia"/>
              <a:buChar char="●"/>
            </a:pPr>
            <a:r>
              <a:rPr b="1" lang="en-US" sz="1300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Bigger discounts do not guarantee bigger sales.</a:t>
            </a:r>
            <a:endParaRPr b="1" sz="1300">
              <a:solidFill>
                <a:srgbClr val="20242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0242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300"/>
              <a:buFont typeface="Georgia"/>
              <a:buChar char="●"/>
            </a:pPr>
            <a:r>
              <a:rPr b="1" lang="en-US" sz="1300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Seasonal trends dominate sales performance. </a:t>
            </a:r>
            <a:endParaRPr b="1" sz="1300">
              <a:solidFill>
                <a:srgbClr val="20242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e99f0d9b_1_20"/>
          <p:cNvSpPr/>
          <p:nvPr/>
        </p:nvSpPr>
        <p:spPr>
          <a:xfrm>
            <a:off x="11475720" y="36576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4e99f0d9b_1_20"/>
          <p:cNvSpPr/>
          <p:nvPr/>
        </p:nvSpPr>
        <p:spPr>
          <a:xfrm>
            <a:off x="548640" y="3657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Small discounts pay for themselves. Big ones don’t.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4e99f0d9b_1_20"/>
          <p:cNvSpPr/>
          <p:nvPr/>
        </p:nvSpPr>
        <p:spPr>
          <a:xfrm>
            <a:off x="548640" y="892811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grouped every order by how big its discount was. Then we compared: what share of all orders came from each group, versus what share of all revenue.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" name="Google Shape;68;g3f4e99f0d9b_1_20"/>
          <p:cNvGraphicFramePr/>
          <p:nvPr/>
        </p:nvGraphicFramePr>
        <p:xfrm>
          <a:off x="4273825" y="189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{08B45658-FAA1-4EBE-899B-9735595F141C}</a:tableStyleId>
              </a:tblPr>
              <a:tblGrid>
                <a:gridCol w="1800475"/>
                <a:gridCol w="1800475"/>
                <a:gridCol w="1800475"/>
                <a:gridCol w="1800475"/>
              </a:tblGrid>
              <a:tr h="79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Discount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orders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all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all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</a:tr>
              <a:tr h="79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15%</a:t>
                      </a:r>
                      <a:endParaRPr b="1" sz="1800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659</a:t>
                      </a:r>
                      <a:endParaRPr b="1" sz="180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r>
                        <a:rPr b="1" lang="en-US" sz="180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r>
                        <a:rPr b="1" lang="en-US" sz="180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b="1" sz="180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r>
                        <a:rPr b="1" lang="en-US" sz="180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b="1" lang="en-US" sz="1800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r>
                        <a:rPr b="1" lang="en-US" sz="180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b="1" sz="180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15-25%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2695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</a:t>
                      </a: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25-35%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7264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</a:t>
                      </a: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r>
                        <a:rPr lang="en-US" sz="150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35%+</a:t>
                      </a:r>
                      <a:endParaRPr b="1" sz="1800" u="none" cap="none" strike="noStrike">
                        <a:solidFill>
                          <a:srgbClr val="CC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8339</a:t>
                      </a:r>
                      <a:endParaRPr b="1" sz="1800" u="none" cap="none" strike="noStrike">
                        <a:solidFill>
                          <a:srgbClr val="CC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en-US" sz="1800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b="1" lang="en-US" sz="1800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b="1" sz="1800" u="none" cap="none" strike="noStrike">
                        <a:solidFill>
                          <a:srgbClr val="CC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</a:t>
                      </a:r>
                      <a:r>
                        <a:rPr b="1" lang="en-US" sz="1800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b="1" sz="1800" u="none" cap="none" strike="noStrike">
                        <a:solidFill>
                          <a:srgbClr val="CC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Google Shape;69;g3f4e99f0d9b_1_20"/>
          <p:cNvSpPr/>
          <p:nvPr/>
        </p:nvSpPr>
        <p:spPr>
          <a:xfrm>
            <a:off x="786925" y="2757050"/>
            <a:ext cx="348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543C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B8892B"/>
                </a:solidFill>
                <a:latin typeface="Calibri"/>
                <a:ea typeface="Calibri"/>
                <a:cs typeface="Calibri"/>
                <a:sym typeface="Calibri"/>
              </a:rPr>
              <a:t>Best balance:</a:t>
            </a:r>
            <a:endParaRPr b="1" sz="2000">
              <a:solidFill>
                <a:srgbClr val="B889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543C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discount.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revenue.</a:t>
            </a:r>
            <a:endParaRPr b="1" sz="2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4e99f0d9b_1_20"/>
          <p:cNvSpPr/>
          <p:nvPr/>
        </p:nvSpPr>
        <p:spPr>
          <a:xfrm>
            <a:off x="8503920" y="653796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4e99f0d9b_1_20"/>
          <p:cNvSpPr/>
          <p:nvPr/>
        </p:nvSpPr>
        <p:spPr>
          <a:xfrm>
            <a:off x="786925" y="5144250"/>
            <a:ext cx="3486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543C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Worst balance:  </a:t>
            </a:r>
            <a:endParaRPr b="1" sz="2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543C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discounts. Weak returns.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4fcb48ac0_6_46"/>
          <p:cNvSpPr/>
          <p:nvPr/>
        </p:nvSpPr>
        <p:spPr>
          <a:xfrm>
            <a:off x="11475720" y="36576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4fcb48ac0_6_46"/>
          <p:cNvSpPr/>
          <p:nvPr/>
        </p:nvSpPr>
        <p:spPr>
          <a:xfrm>
            <a:off x="548640" y="36576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Bigger discounts don’t fill bigger carts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4fcb48ac0_6_46"/>
          <p:cNvSpPr/>
          <p:nvPr/>
        </p:nvSpPr>
        <p:spPr>
          <a:xfrm>
            <a:off x="548640" y="960120"/>
            <a:ext cx="1115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deep discounts worked as a growth tool, we'd expect people to buy more per order when the discount is bigger. That's not what happens.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4fcb48ac0_6_46"/>
          <p:cNvSpPr/>
          <p:nvPr/>
        </p:nvSpPr>
        <p:spPr>
          <a:xfrm>
            <a:off x="548650" y="1508600"/>
            <a:ext cx="3337500" cy="41763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4fcb48ac0_6_46"/>
          <p:cNvSpPr/>
          <p:nvPr/>
        </p:nvSpPr>
        <p:spPr>
          <a:xfrm>
            <a:off x="662940" y="1832803"/>
            <a:ext cx="3108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92B"/>
              </a:buClr>
              <a:buSzPts val="4000"/>
              <a:buFont typeface="Georgia"/>
              <a:buNone/>
            </a:pPr>
            <a:r>
              <a:rPr b="1" lang="en-US" sz="3000">
                <a:solidFill>
                  <a:srgbClr val="B8892B"/>
                </a:solidFill>
                <a:latin typeface="Georgia"/>
                <a:ea typeface="Georgia"/>
                <a:cs typeface="Georgia"/>
                <a:sym typeface="Georgia"/>
              </a:rPr>
              <a:t>1.3 to 1.5 items</a:t>
            </a:r>
            <a:r>
              <a:rPr b="1" lang="en-US" sz="3200">
                <a:solidFill>
                  <a:srgbClr val="B889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4fcb48ac0_6_46"/>
          <p:cNvSpPr/>
          <p:nvPr/>
        </p:nvSpPr>
        <p:spPr>
          <a:xfrm>
            <a:off x="662940" y="2722242"/>
            <a:ext cx="310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order, no matter the discount 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4fcb48ac0_6_46"/>
          <p:cNvSpPr/>
          <p:nvPr/>
        </p:nvSpPr>
        <p:spPr>
          <a:xfrm>
            <a:off x="662950" y="3428975"/>
            <a:ext cx="3108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Whether the discount is 5% or 45%, shoppers put roughly the same number of items in their basket. A deeper discount just means we collect less money for the same basket</a:t>
            </a:r>
            <a:r>
              <a:rPr lang="en-US" sz="1250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25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 it doesn’t grow the sale.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4fcb48ac0_6_46"/>
          <p:cNvSpPr/>
          <p:nvPr/>
        </p:nvSpPr>
        <p:spPr>
          <a:xfrm>
            <a:off x="8503920" y="653796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4fcb48ac0_6_46"/>
          <p:cNvSpPr txBox="1"/>
          <p:nvPr/>
        </p:nvSpPr>
        <p:spPr>
          <a:xfrm>
            <a:off x="4061700" y="5834383"/>
            <a:ext cx="699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B2A41"/>
                </a:solidFill>
              </a:rPr>
              <a:t>Basket size peaked in </a:t>
            </a:r>
            <a:r>
              <a:rPr lang="en-US" sz="1200">
                <a:solidFill>
                  <a:srgbClr val="B8892B"/>
                </a:solidFill>
              </a:rPr>
              <a:t>May (1.55 items) </a:t>
            </a:r>
            <a:r>
              <a:rPr lang="en-US" sz="1200">
                <a:solidFill>
                  <a:srgbClr val="1B2A41"/>
                </a:solidFill>
              </a:rPr>
              <a:t>and remained similarly high during </a:t>
            </a:r>
            <a:r>
              <a:rPr lang="en-US" sz="1200">
                <a:solidFill>
                  <a:srgbClr val="C1543C"/>
                </a:solidFill>
              </a:rPr>
              <a:t>Black Friday (1.53 items),</a:t>
            </a:r>
            <a:r>
              <a:rPr lang="en-US" sz="1200">
                <a:solidFill>
                  <a:srgbClr val="1B2A41"/>
                </a:solidFill>
              </a:rPr>
              <a:t> indicating only modest seasonal variation.</a:t>
            </a:r>
            <a:endParaRPr sz="1500">
              <a:solidFill>
                <a:srgbClr val="1B2A41"/>
              </a:solidFill>
            </a:endParaRPr>
          </a:p>
        </p:txBody>
      </p:sp>
      <p:pic>
        <p:nvPicPr>
          <p:cNvPr id="86" name="Google Shape;86;g3f4fcb48ac0_6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700" y="1508600"/>
            <a:ext cx="8068524" cy="41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11475720" y="3657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44075" y="365750"/>
            <a:ext cx="111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0242C"/>
                </a:solidFill>
                <a:latin typeface="Georgia"/>
                <a:ea typeface="Georgia"/>
                <a:cs typeface="Georgia"/>
                <a:sym typeface="Georgia"/>
              </a:rPr>
              <a:t>Categories that discount less, earn more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04800" y="837975"/>
            <a:ext cx="109728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10 product categories we sell, ranked by revenue, with their average discount.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543800" y="14173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Revenue and discount, side by side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75438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{08B45658-FAA1-4EBE-899B-9735595F141C}</a:tableStyleId>
              </a:tblPr>
              <a:tblGrid>
                <a:gridCol w="1341125"/>
                <a:gridCol w="1341125"/>
                <a:gridCol w="1341125"/>
              </a:tblGrid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Discount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1"/>
                    </a:solidFill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Devices</a:t>
                      </a:r>
                      <a:endParaRPr b="1" sz="105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$1.85M</a:t>
                      </a:r>
                      <a:endParaRPr b="1" sz="105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B88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9.0%</a:t>
                      </a:r>
                      <a:endParaRPr b="1" sz="1050" u="none" cap="none" strike="noStrike">
                        <a:solidFill>
                          <a:srgbClr val="B889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16.8%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Products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$0.94M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21.8%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$0.79M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12.7%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Electronics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$0.76M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$0.59M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17.2%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Accessories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$0.46M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20.8%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$0.33M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21.9%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Wearables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$0.30M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11.7%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543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61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Protection</a:t>
                      </a:r>
                      <a:endParaRPr b="1" sz="1050" u="none" cap="none" strike="noStrike">
                        <a:solidFill>
                          <a:srgbClr val="A61C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61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$0.28M</a:t>
                      </a:r>
                      <a:endParaRPr b="1" sz="1050" u="none" cap="none" strike="noStrike">
                        <a:solidFill>
                          <a:srgbClr val="A61C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543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A61C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31.2%</a:t>
                      </a:r>
                      <a:endParaRPr b="1" sz="1050" u="none" cap="none" strike="noStrike">
                        <a:solidFill>
                          <a:srgbClr val="A61C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E4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5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554" r="564" t="0"/>
          <a:stretch/>
        </p:blipFill>
        <p:spPr>
          <a:xfrm>
            <a:off x="0" y="1783075"/>
            <a:ext cx="7299225" cy="43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11475720" y="3657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13230" y="291075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Recommendation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13230" y="1251375"/>
            <a:ext cx="73200" cy="960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14400" y="1292918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 everyday discounts at 5-15% off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14400" y="1776987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Proof: at 15% off or less, we earn a bigger share of revenue than the share of order sit takes to get there.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13255" y="2329345"/>
            <a:ext cx="73200" cy="960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41825" y="2423913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 discounts over 25% for clearing out old stock only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41825" y="2851307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Proof: today these deals make up 16% of orders, but only 4.8% of revenue.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13255" y="3506190"/>
            <a:ext cx="73200" cy="960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41825" y="3437457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Don’t discount our best-selling category to compete on price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14400" y="3892515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Proof: Mobile Devices earns the most revenue of any category, with the smallest discount (9%).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Eniac · Discount Strategy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41825" y="4480945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Seasonal discounts should stay at 15–22%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14400" y="496474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Proof: </a:t>
            </a:r>
            <a:r>
              <a:rPr lang="en-US" sz="1250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Nov and Dec,  two best months, both stayed under 22%, while Jan and July pushed toward 25% without outperforming them.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13230" y="4619640"/>
            <a:ext cx="73200" cy="960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1ee6a843_2_4"/>
          <p:cNvSpPr/>
          <p:nvPr/>
        </p:nvSpPr>
        <p:spPr>
          <a:xfrm>
            <a:off x="3776050" y="2749825"/>
            <a:ext cx="43932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THANK YOU !!!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51ee6a843_2_4"/>
          <p:cNvSpPr/>
          <p:nvPr/>
        </p:nvSpPr>
        <p:spPr>
          <a:xfrm>
            <a:off x="3525332" y="3258005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51ee6a843_2_4"/>
          <p:cNvSpPr/>
          <p:nvPr/>
        </p:nvSpPr>
        <p:spPr>
          <a:xfrm>
            <a:off x="3525320" y="359696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51ee6a843_2_4"/>
          <p:cNvSpPr/>
          <p:nvPr/>
        </p:nvSpPr>
        <p:spPr>
          <a:xfrm>
            <a:off x="7052593" y="3659973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2026-07-10T09:01:45Z</dcterms:created>
  <dc:creator>PptxGenJS</dc:creator>
</cp:coreProperties>
</file>